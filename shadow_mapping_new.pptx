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2" r:id="rId6"/>
    <p:sldId id="273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568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86C5A-ADAA-FB3E-80B5-F5D0E01E1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1F379-145C-8ACB-0905-86F6785D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B6606-BF84-5908-5D28-415D87F8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0DB86-D3BF-B5F4-EE3E-3661763C33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77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0AAA-8031-0A48-BC8F-B93E1A983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A9C036-C976-CA18-42B9-130EF6C1C8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38E98-E88D-15F2-F117-A2EE51BB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586D9-C80F-4C87-07CB-F9FBCDC26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594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AAA7C-7815-2BCC-7625-FDB4F002E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2DB283-1AF9-8413-1E94-62982A023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6EDEA-4EAA-1D2B-D5E5-4FCEB9FE8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D695B-0E1A-76EC-26FD-7782818EF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967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hopq2lkzMQ" TargetMode="External"/><Relationship Id="rId7" Type="http://schemas.openxmlformats.org/officeDocument/2006/relationships/hyperlink" Target="https://learnopengl.com/Advanced-Lighting/Shadows/Shadow-Mappin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vis.uni-jena.de/Lecture/ComputerGraphics2/Lec9_ShadowMapping.pdf" TargetMode="External"/><Relationship Id="rId5" Type="http://schemas.openxmlformats.org/officeDocument/2006/relationships/hyperlink" Target="https://en.wikipedia.org/wiki/Shadow_mapping" TargetMode="External"/><Relationship Id="rId4" Type="http://schemas.openxmlformats.org/officeDocument/2006/relationships/hyperlink" Target="https://www.opengl-tutorial.org/intermediate-tutorials/tutorial-16-shadow-mapp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274320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8028432" y="274320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8284464" y="274320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8540496" y="274320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8796528" y="274320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Shape 5"/>
          <p:cNvSpPr/>
          <p:nvPr/>
        </p:nvSpPr>
        <p:spPr>
          <a:xfrm>
            <a:off x="7772400" y="530352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Shape 6"/>
          <p:cNvSpPr/>
          <p:nvPr/>
        </p:nvSpPr>
        <p:spPr>
          <a:xfrm>
            <a:off x="8028432" y="530352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8284464" y="530352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8540496" y="530352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8796528" y="530352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7772400" y="786384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8028432" y="786384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8284464" y="786384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8540496" y="786384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8796528" y="786384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7772400" y="1042416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8028432" y="1042416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7"/>
          <p:cNvSpPr/>
          <p:nvPr/>
        </p:nvSpPr>
        <p:spPr>
          <a:xfrm>
            <a:off x="8284464" y="1042416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8540496" y="1042416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8796528" y="1042416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Shape 20"/>
          <p:cNvSpPr/>
          <p:nvPr/>
        </p:nvSpPr>
        <p:spPr>
          <a:xfrm>
            <a:off x="7772400" y="1298448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8028432" y="1298448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8284464" y="1298448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Shape 23"/>
          <p:cNvSpPr/>
          <p:nvPr/>
        </p:nvSpPr>
        <p:spPr>
          <a:xfrm>
            <a:off x="8540496" y="1298448"/>
            <a:ext cx="201168" cy="201168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8796528" y="1298448"/>
            <a:ext cx="201168" cy="201168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548640" y="12801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</a:t>
            </a:r>
            <a:endParaRPr lang="en-US" sz="6400" dirty="0"/>
          </a:p>
        </p:txBody>
      </p:sp>
      <p:sp>
        <p:nvSpPr>
          <p:cNvPr id="28" name="Text 26"/>
          <p:cNvSpPr/>
          <p:nvPr/>
        </p:nvSpPr>
        <p:spPr>
          <a:xfrm>
            <a:off x="548640" y="2011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E87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64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Implementácia tieňov v reálnom čase — technická teória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+ LWJGL 3  ·  OpenGL 3.3  ·  GLSL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shadow mapping — princíp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renderovacie prechody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64592" y="1508760"/>
            <a:ext cx="3931920" cy="118872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92608" y="1600200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1 — Depth Pass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" y="1929384"/>
            <a:ext cx="36758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Pohľad z pozície svetla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Ulož iba hĺbku → depth mapa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" y="2788920"/>
            <a:ext cx="3931920" cy="141732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292608" y="2880360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2 — Main Pass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" y="3209544"/>
            <a:ext cx="367588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Pohľad z pozície kamery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Porovnaj hĺbku s depth mapou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tieň alebo svetlo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Svetlo vidí scénu rovnako ako kamera — len z iného uhla.</a:t>
            </a:r>
            <a:endParaRPr lang="en-US" sz="1200" dirty="0"/>
          </a:p>
        </p:txBody>
      </p:sp>
      <p:pic>
        <p:nvPicPr>
          <p:cNvPr id="1028" name="Picture 4" descr="The shadow mapping algorithm: The depth values as seen from the light source are stored in a shadow map, and are then used in a second pass to generate shadows on the objects.  ">
            <a:extLst>
              <a:ext uri="{FF2B5EF4-FFF2-40B4-BE49-F238E27FC236}">
                <a16:creationId xmlns:a16="http://schemas.microsoft.com/office/drawing/2014/main" id="{51079551-DBD8-132C-0E92-11EB40D01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8912" y="1829206"/>
            <a:ext cx="4730496" cy="184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pass 1 — depth mapa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je Depth Mapa?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64592" y="1481328"/>
            <a:ext cx="3931920" cy="96012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92608" y="157276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Čo to je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" y="1901952"/>
            <a:ext cx="36758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Textúra kde každý pixel = hĺbka fragmentu.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Nie farba — iba jedno číslo 0.0 až 1.0.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" y="2532888"/>
            <a:ext cx="3931920" cy="96012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292608" y="262432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pohľadu svetla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" y="2953512"/>
            <a:ext cx="36758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Renderujeme scénu akoby sme boli svetlo.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Tmavá = blízko svetla,  svetlá = ďaleko.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4592" y="3584448"/>
            <a:ext cx="3931920" cy="804672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92608" y="367588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 čo ju použijeme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" y="40050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main passe porovnáme hĺbku s depth mapou → tieň alebo svetlo.</a:t>
            </a:r>
            <a:endParaRPr lang="en-US" sz="1200" dirty="0"/>
          </a:p>
        </p:txBody>
      </p:sp>
      <p:pic>
        <p:nvPicPr>
          <p:cNvPr id="2050" name="Picture 2" descr="The shadow mapping algorithm: The depth values as seen from the light source are stored in a shadow map, and are then used in a second pass to generate shadows on the objects.  ">
            <a:extLst>
              <a:ext uri="{FF2B5EF4-FFF2-40B4-BE49-F238E27FC236}">
                <a16:creationId xmlns:a16="http://schemas.microsoft.com/office/drawing/2014/main" id="{FAA4684D-C0D7-E22D-82A5-1D525B46C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7680" y="1991133"/>
            <a:ext cx="4754880" cy="185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pass 1 — framebuffer object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Kde depth mapu uložiť? → FBO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64592" y="1508760"/>
            <a:ext cx="8814816" cy="100584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92608" y="1600200"/>
            <a:ext cx="8558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Problém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" y="1929384"/>
            <a:ext cx="85587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Normálne OpenGL renderuje priamo na obrazovku a výsledok zahodí.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 ale výsledok depth passu potrebujeme — použijeme ho v main passe.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" y="2606040"/>
            <a:ext cx="8814816" cy="713232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292608" y="2697480"/>
            <a:ext cx="8558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Riešenie — FBO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" y="3026664"/>
            <a:ext cx="8558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Framebuffer Object = náhradná "obrazovka". Namiesto monitora renderuješ do textúry v pamäti GPU.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4592" y="3410712"/>
            <a:ext cx="4297680" cy="932688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92608" y="3502152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Raz na začiatku (init)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" y="3831336"/>
            <a:ext cx="40416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Vytvor FBO + depth textúru.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Uloži len handle (číslo).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3410712"/>
            <a:ext cx="4315968" cy="932688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791456" y="3502152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Každý frame (render loop)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91456" y="3831336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Bindni FBO → vymaž → renderuj.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Obsah sa prepíše odznova.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66237-1202-B5BF-D77B-88D753EC6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>
            <a:extLst>
              <a:ext uri="{FF2B5EF4-FFF2-40B4-BE49-F238E27FC236}">
                <a16:creationId xmlns:a16="http://schemas.microsoft.com/office/drawing/2014/main" id="{7C24ED68-D58B-4054-9E16-EE45CF27A5EA}"/>
              </a:ext>
            </a:extLst>
          </p:cNvPr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EE274FE1-9D75-2CAA-D899-CA6607880143}"/>
              </a:ext>
            </a:extLst>
          </p:cNvPr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framebuffer — základy</a:t>
            </a:r>
            <a:endParaRPr lang="en-US" sz="11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F4FCC09E-0917-39AF-7F04-3DAD8E292999}"/>
              </a:ext>
            </a:extLst>
          </p:cNvPr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952848C6-88D8-98CA-BAC8-42B15B730CF1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4DF73A5-F221-4071-9294-12A6BBC4E609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B4958A9E-D2E5-0DD5-EC6E-BB6FA25CAB2C}"/>
              </a:ext>
            </a:extLst>
          </p:cNvPr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je Framebuffer?</a:t>
            </a:r>
            <a:endParaRPr lang="en-US" sz="360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B165475D-27C3-2D81-5B5B-AC8CCBAC4205}"/>
              </a:ext>
            </a:extLst>
          </p:cNvPr>
          <p:cNvSpPr/>
          <p:nvPr/>
        </p:nvSpPr>
        <p:spPr>
          <a:xfrm>
            <a:off x="164592" y="1481328"/>
            <a:ext cx="8814816" cy="804672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76AEB61A-E939-D482-CFEF-5ADEA1F82F71}"/>
              </a:ext>
            </a:extLst>
          </p:cNvPr>
          <p:cNvSpPr/>
          <p:nvPr/>
        </p:nvSpPr>
        <p:spPr>
          <a:xfrm>
            <a:off x="292608" y="1572768"/>
            <a:ext cx="8558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Definícia</a:t>
            </a:r>
            <a:endParaRPr lang="en-US" sz="13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CF2283EA-0869-7C27-D581-D736A7B4D100}"/>
              </a:ext>
            </a:extLst>
          </p:cNvPr>
          <p:cNvSpPr/>
          <p:nvPr/>
        </p:nvSpPr>
        <p:spPr>
          <a:xfrm>
            <a:off x="292608" y="1901952"/>
            <a:ext cx="8558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Framebuffer je pamäťový priestor kde GPU skladuje výsledok renderovania — farby, hļbku, stencil.</a:t>
            </a:r>
            <a:endParaRPr lang="en-US" sz="1200" dirty="0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43AA7B1F-F541-F1C1-3433-88DE3D34B223}"/>
              </a:ext>
            </a:extLst>
          </p:cNvPr>
          <p:cNvSpPr/>
          <p:nvPr/>
        </p:nvSpPr>
        <p:spPr>
          <a:xfrm>
            <a:off x="164592" y="2395728"/>
            <a:ext cx="2816352" cy="182880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9E1A5193-21A5-79FB-AB91-1B337C88F914}"/>
              </a:ext>
            </a:extLst>
          </p:cNvPr>
          <p:cNvSpPr/>
          <p:nvPr/>
        </p:nvSpPr>
        <p:spPr>
          <a:xfrm>
            <a:off x="274320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buffer</a:t>
            </a:r>
            <a:endParaRPr lang="en-US" sz="13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4C9ED764-A277-7642-9894-31572CD583B3}"/>
              </a:ext>
            </a:extLst>
          </p:cNvPr>
          <p:cNvSpPr/>
          <p:nvPr/>
        </p:nvSpPr>
        <p:spPr>
          <a:xfrm>
            <a:off x="274320" y="2834640"/>
            <a:ext cx="25968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 farba každého pixelu.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čo vidíš na obrazovke.</a:t>
            </a:r>
            <a:endParaRPr lang="en-US" sz="1200" dirty="0"/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6E84F3C0-B4B1-2DE3-CDF4-9816C0BA0278}"/>
              </a:ext>
            </a:extLst>
          </p:cNvPr>
          <p:cNvSpPr/>
          <p:nvPr/>
        </p:nvSpPr>
        <p:spPr>
          <a:xfrm>
            <a:off x="3108960" y="2395728"/>
            <a:ext cx="2816352" cy="182880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5894DCD4-A0C3-302A-A0B7-341601D4C81F}"/>
              </a:ext>
            </a:extLst>
          </p:cNvPr>
          <p:cNvSpPr/>
          <p:nvPr/>
        </p:nvSpPr>
        <p:spPr>
          <a:xfrm>
            <a:off x="3218688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 buffer</a:t>
            </a:r>
            <a:endParaRPr lang="en-US" sz="1300" dirty="0"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166CE20A-FB35-2187-C080-66EA44C31E12}"/>
              </a:ext>
            </a:extLst>
          </p:cNvPr>
          <p:cNvSpPr/>
          <p:nvPr/>
        </p:nvSpPr>
        <p:spPr>
          <a:xfrm>
            <a:off x="3218688" y="2834640"/>
            <a:ext cx="25968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Hļbka každého pixelu.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Používa sa na occlusion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kto je pred kým.</a:t>
            </a:r>
            <a:endParaRPr lang="en-US" sz="1200" dirty="0"/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CA600C57-92DD-7936-AC42-B1E6523839D3}"/>
              </a:ext>
            </a:extLst>
          </p:cNvPr>
          <p:cNvSpPr/>
          <p:nvPr/>
        </p:nvSpPr>
        <p:spPr>
          <a:xfrm>
            <a:off x="6053328" y="2395728"/>
            <a:ext cx="2816352" cy="1828800"/>
          </a:xfrm>
          <a:prstGeom prst="rect">
            <a:avLst/>
          </a:prstGeom>
          <a:solidFill>
            <a:srgbClr val="1E2330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E44FDFA6-BA67-F4F7-2D4C-186086198102}"/>
              </a:ext>
            </a:extLst>
          </p:cNvPr>
          <p:cNvSpPr/>
          <p:nvPr/>
        </p:nvSpPr>
        <p:spPr>
          <a:xfrm>
            <a:off x="6163056" y="248716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Stencil buffer</a:t>
            </a:r>
            <a:endParaRPr lang="en-US" sz="13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BB9195B9-6B0A-A0F5-CA23-24FB88320FBD}"/>
              </a:ext>
            </a:extLst>
          </p:cNvPr>
          <p:cNvSpPr/>
          <p:nvPr/>
        </p:nvSpPr>
        <p:spPr>
          <a:xfrm>
            <a:off x="6163056" y="2834640"/>
            <a:ext cx="25968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Maska — ktoré pixely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kresliť a ktoré nie.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Dnes nepoužívame.</a:t>
            </a:r>
            <a:endParaRPr lang="en-US" sz="1200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FCBF6B91-D813-E0DF-915B-FEF29D5A06AA}"/>
              </a:ext>
            </a:extLst>
          </p:cNvPr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F7AA85C9-A244-DDDE-7DCB-432FF21FAEB8}"/>
              </a:ext>
            </a:extLst>
          </p:cNvPr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framebuffer → výstup na monitor.  Shadow FBO → výstup do GPU textúry.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23779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80623-C9A6-37A6-BA2F-01D3EC661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>
            <a:extLst>
              <a:ext uri="{FF2B5EF4-FFF2-40B4-BE49-F238E27FC236}">
                <a16:creationId xmlns:a16="http://schemas.microsoft.com/office/drawing/2014/main" id="{76FEB54A-E0DA-E3C2-9E5B-FB029A830FC3}"/>
              </a:ext>
            </a:extLst>
          </p:cNvPr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Text 1">
            <a:extLst>
              <a:ext uri="{FF2B5EF4-FFF2-40B4-BE49-F238E27FC236}">
                <a16:creationId xmlns:a16="http://schemas.microsoft.com/office/drawing/2014/main" id="{A63B43C4-C1D7-432E-D5FD-23E77D7C820F}"/>
              </a:ext>
            </a:extLst>
          </p:cNvPr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shadery — základy</a:t>
            </a:r>
            <a:endParaRPr lang="en-US" sz="1100" dirty="0"/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3F1CE360-8C1E-F51F-7F0F-E11C7D521209}"/>
              </a:ext>
            </a:extLst>
          </p:cNvPr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41" name="Shape 3">
            <a:extLst>
              <a:ext uri="{FF2B5EF4-FFF2-40B4-BE49-F238E27FC236}">
                <a16:creationId xmlns:a16="http://schemas.microsoft.com/office/drawing/2014/main" id="{2ABDA704-171C-3A6A-0B34-B5A17EE39F96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1455D62F-88FF-392D-D2BC-94B471A63216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43" name="Text 5">
            <a:extLst>
              <a:ext uri="{FF2B5EF4-FFF2-40B4-BE49-F238E27FC236}">
                <a16:creationId xmlns:a16="http://schemas.microsoft.com/office/drawing/2014/main" id="{889C9535-B4AE-B17B-3F60-FA91B68AC84F}"/>
              </a:ext>
            </a:extLst>
          </p:cNvPr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je shader?</a:t>
            </a:r>
            <a:endParaRPr lang="en-US" sz="3600" dirty="0"/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0D667DC5-CA84-46BC-890A-1276708AB816}"/>
              </a:ext>
            </a:extLst>
          </p:cNvPr>
          <p:cNvSpPr/>
          <p:nvPr/>
        </p:nvSpPr>
        <p:spPr>
          <a:xfrm>
            <a:off x="164592" y="1481328"/>
            <a:ext cx="8814816" cy="804672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CEDC5015-E427-089A-187B-C3C8788C48A8}"/>
              </a:ext>
            </a:extLst>
          </p:cNvPr>
          <p:cNvSpPr/>
          <p:nvPr/>
        </p:nvSpPr>
        <p:spPr>
          <a:xfrm>
            <a:off x="292608" y="1572768"/>
            <a:ext cx="8558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Definícia</a:t>
            </a:r>
            <a:endParaRPr lang="en-US" sz="1300" dirty="0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7BE045C9-3937-AA79-C8A4-EC2727B8A14E}"/>
              </a:ext>
            </a:extLst>
          </p:cNvPr>
          <p:cNvSpPr/>
          <p:nvPr/>
        </p:nvSpPr>
        <p:spPr>
          <a:xfrm>
            <a:off x="292608" y="1901952"/>
            <a:ext cx="8558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Shader je malý program ktorý beží priamo na GPU — nie na CPU. Píše sa v jazyku GLSL.</a:t>
            </a:r>
            <a:endParaRPr lang="en-US" sz="1200" dirty="0"/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C56BB60B-B756-6356-5640-AF155D443F56}"/>
              </a:ext>
            </a:extLst>
          </p:cNvPr>
          <p:cNvSpPr/>
          <p:nvPr/>
        </p:nvSpPr>
        <p:spPr>
          <a:xfrm>
            <a:off x="164592" y="2395728"/>
            <a:ext cx="4297680" cy="1938528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BA75CFB1-5FAD-934E-E351-24362E28A0FC}"/>
              </a:ext>
            </a:extLst>
          </p:cNvPr>
          <p:cNvSpPr/>
          <p:nvPr/>
        </p:nvSpPr>
        <p:spPr>
          <a:xfrm>
            <a:off x="292608" y="248716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Vertex shader</a:t>
            </a:r>
            <a:endParaRPr lang="en-US" sz="1300" dirty="0"/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8E3CC2D3-5C6C-D7F9-E9B4-351110E03AE1}"/>
              </a:ext>
            </a:extLst>
          </p:cNvPr>
          <p:cNvSpPr/>
          <p:nvPr/>
        </p:nvSpPr>
        <p:spPr>
          <a:xfrm>
            <a:off x="292608" y="2816352"/>
            <a:ext cx="40416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Beží raz pre každý vrchol (vertex).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Vstup: pozicia vrcholu v 3D priestore.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Výstup: kde je vrchol na obrazovke.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Hlavná práca: násobi maticami.</a:t>
            </a:r>
            <a:endParaRPr lang="en-US" sz="120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A5860914-7541-9EEE-8BF2-24C7E7B66B49}"/>
              </a:ext>
            </a:extLst>
          </p:cNvPr>
          <p:cNvSpPr/>
          <p:nvPr/>
        </p:nvSpPr>
        <p:spPr>
          <a:xfrm>
            <a:off x="4663440" y="2395728"/>
            <a:ext cx="4315968" cy="1938528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42B38E64-7E1A-B447-A5CC-A0A7EC2FF0BC}"/>
              </a:ext>
            </a:extLst>
          </p:cNvPr>
          <p:cNvSpPr/>
          <p:nvPr/>
        </p:nvSpPr>
        <p:spPr>
          <a:xfrm>
            <a:off x="4791456" y="248716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Fragment shader</a:t>
            </a:r>
            <a:endParaRPr lang="en-US" sz="1300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D8E5D41C-971E-FAD6-E080-120916D9E236}"/>
              </a:ext>
            </a:extLst>
          </p:cNvPr>
          <p:cNvSpPr/>
          <p:nvPr/>
        </p:nvSpPr>
        <p:spPr>
          <a:xfrm>
            <a:off x="4791456" y="2816352"/>
            <a:ext cx="405993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Beží raz pre každý pixel výsledku.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Vstup: interpoované dáta z vertex shadera.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Výstup: farba tohto pixelu.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Hlavná práca: počítať osvetlenie.</a:t>
            </a:r>
            <a:endParaRPr lang="en-US" sz="1200" dirty="0"/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8A2657D8-ADE9-7D58-81E0-2FF7913666E1}"/>
              </a:ext>
            </a:extLst>
          </p:cNvPr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4" name="Text 16">
            <a:extLst>
              <a:ext uri="{FF2B5EF4-FFF2-40B4-BE49-F238E27FC236}">
                <a16:creationId xmlns:a16="http://schemas.microsoft.com/office/drawing/2014/main" id="{7541A0F1-0CFF-FB17-ABB5-D837469668BE}"/>
              </a:ext>
            </a:extLst>
          </p:cNvPr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GPU spustí vertex shader pre každý vrchol, potom fragment shader pre každý pixel medzi nimi.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32037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E15612-8080-0842-446F-D2133263D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>
            <a:extLst>
              <a:ext uri="{FF2B5EF4-FFF2-40B4-BE49-F238E27FC236}">
                <a16:creationId xmlns:a16="http://schemas.microsoft.com/office/drawing/2014/main" id="{5CC474F1-ABA3-4C56-D61D-4A636099CF46}"/>
              </a:ext>
            </a:extLst>
          </p:cNvPr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B66B9B7-9D03-523E-0ED4-5166E8A8A67E}"/>
              </a:ext>
            </a:extLst>
          </p:cNvPr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shadery — v našom projekte</a:t>
            </a:r>
            <a:endParaRPr lang="en-US" sz="1100" dirty="0"/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CBFBD680-BEC3-AED3-5E66-D7D6D9CE3C49}"/>
              </a:ext>
            </a:extLst>
          </p:cNvPr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8C8EB6BA-FAC1-0893-F61F-ECF0E6E4CC14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F7D2F4F7-65A1-F66D-6E49-4803461F3B06}"/>
              </a:ext>
            </a:extLst>
          </p:cNvPr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7A64AB6F-532D-D1C4-D646-0AFF84F8774E}"/>
              </a:ext>
            </a:extLst>
          </p:cNvPr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Shadery ktoré používame</a:t>
            </a:r>
            <a:endParaRPr lang="en-US" sz="3200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33CF9AD8-855E-9E5C-E367-2A69B75AE202}"/>
              </a:ext>
            </a:extLst>
          </p:cNvPr>
          <p:cNvSpPr/>
          <p:nvPr/>
        </p:nvSpPr>
        <p:spPr>
          <a:xfrm>
            <a:off x="164592" y="1508760"/>
            <a:ext cx="2084832" cy="283464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6D50D6DE-A92E-E053-52DC-5CA7396A75E6}"/>
              </a:ext>
            </a:extLst>
          </p:cNvPr>
          <p:cNvSpPr/>
          <p:nvPr/>
        </p:nvSpPr>
        <p:spPr>
          <a:xfrm>
            <a:off x="256032" y="160020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depth.vert</a:t>
            </a:r>
            <a:endParaRPr lang="en-US" sz="1200" dirty="0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BD8FBB4C-FF53-63F2-7853-14D6B902BD26}"/>
              </a:ext>
            </a:extLst>
          </p:cNvPr>
          <p:cNvSpPr/>
          <p:nvPr/>
        </p:nvSpPr>
        <p:spPr>
          <a:xfrm>
            <a:off x="256032" y="1965960"/>
            <a:ext cx="1901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Vertex shader pre depth pass.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Transformuje vrcholy do light space.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Jedna matica, jeden rádok výsledku.</a:t>
            </a:r>
            <a:endParaRPr lang="en-US" sz="1100" dirty="0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6D7BB3DB-F318-DC66-D155-8D2BC9B4A38F}"/>
              </a:ext>
            </a:extLst>
          </p:cNvPr>
          <p:cNvSpPr/>
          <p:nvPr/>
        </p:nvSpPr>
        <p:spPr>
          <a:xfrm>
            <a:off x="2377440" y="1508760"/>
            <a:ext cx="2084832" cy="283464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F8E5CC9B-D6EB-AAD3-5DC0-B98228CB2587}"/>
              </a:ext>
            </a:extLst>
          </p:cNvPr>
          <p:cNvSpPr/>
          <p:nvPr/>
        </p:nvSpPr>
        <p:spPr>
          <a:xfrm>
            <a:off x="2468880" y="160020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depth.frag</a:t>
            </a:r>
            <a:endParaRPr lang="en-US" sz="1200" dirty="0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B4F8688-603F-AF6F-70DC-0D0C06F8FAB3}"/>
              </a:ext>
            </a:extLst>
          </p:cNvPr>
          <p:cNvSpPr/>
          <p:nvPr/>
        </p:nvSpPr>
        <p:spPr>
          <a:xfrm>
            <a:off x="2468880" y="1965960"/>
            <a:ext cx="1901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Fragment shader pre depth pass.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 úplne prázdny.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GPU si zapíše hļbku sám.</a:t>
            </a:r>
            <a:endParaRPr lang="en-US" sz="110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9BE1781-8BA8-F6B5-DFD3-2BC9042D8106}"/>
              </a:ext>
            </a:extLst>
          </p:cNvPr>
          <p:cNvSpPr/>
          <p:nvPr/>
        </p:nvSpPr>
        <p:spPr>
          <a:xfrm>
            <a:off x="4590288" y="1508760"/>
            <a:ext cx="2084832" cy="283464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831A9DE8-69B1-A80F-673B-22CBF45B792D}"/>
              </a:ext>
            </a:extLst>
          </p:cNvPr>
          <p:cNvSpPr/>
          <p:nvPr/>
        </p:nvSpPr>
        <p:spPr>
          <a:xfrm>
            <a:off x="4681728" y="160020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main.vert</a:t>
            </a:r>
            <a:endParaRPr lang="en-US" sz="12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2336C856-221F-3A72-A302-91CF8B4F9EE0}"/>
              </a:ext>
            </a:extLst>
          </p:cNvPr>
          <p:cNvSpPr/>
          <p:nvPr/>
        </p:nvSpPr>
        <p:spPr>
          <a:xfrm>
            <a:off x="4681728" y="1965960"/>
            <a:ext cx="1901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Vertex shader pre hlavný pass.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Transformuje vrcholy pre kameru.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Navyše posiela FragPosLightSpace.</a:t>
            </a:r>
            <a:endParaRPr lang="en-US" sz="1100" dirty="0"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A6435274-EB0B-5293-C9FD-D11D3B577D7E}"/>
              </a:ext>
            </a:extLst>
          </p:cNvPr>
          <p:cNvSpPr/>
          <p:nvPr/>
        </p:nvSpPr>
        <p:spPr>
          <a:xfrm>
            <a:off x="6803136" y="1508760"/>
            <a:ext cx="2084832" cy="283464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00DC9B4A-A3DE-5690-52F5-FA831804D8FF}"/>
              </a:ext>
            </a:extLst>
          </p:cNvPr>
          <p:cNvSpPr/>
          <p:nvPr/>
        </p:nvSpPr>
        <p:spPr>
          <a:xfrm>
            <a:off x="6894576" y="160020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main.frag</a:t>
            </a:r>
            <a:endParaRPr lang="en-US" sz="1200" dirty="0"/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0280DD3B-93D3-1D29-982F-3841332CAC1A}"/>
              </a:ext>
            </a:extLst>
          </p:cNvPr>
          <p:cNvSpPr/>
          <p:nvPr/>
        </p:nvSpPr>
        <p:spPr>
          <a:xfrm>
            <a:off x="6894576" y="1965960"/>
            <a:ext cx="1901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Fragment shader pre hlavný pass.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Phöng osvetlenie + shadowTest().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 sa rozhoduje: tieň alebo svetlo.</a:t>
            </a:r>
            <a:endParaRPr lang="en-US" sz="1100" dirty="0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B7AB08E7-17CA-3FE0-8C58-005BFF30114E}"/>
              </a:ext>
            </a:extLst>
          </p:cNvPr>
          <p:cNvSpPr/>
          <p:nvPr/>
        </p:nvSpPr>
        <p:spPr>
          <a:xfrm>
            <a:off x="164592" y="4462272"/>
            <a:ext cx="4425696" cy="0"/>
          </a:xfrm>
          <a:prstGeom prst="line">
            <a:avLst/>
          </a:prstGeom>
          <a:noFill/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A54A4D3C-5EE0-5F87-463D-790FDC15CEA3}"/>
              </a:ext>
            </a:extLst>
          </p:cNvPr>
          <p:cNvSpPr/>
          <p:nvPr/>
        </p:nvSpPr>
        <p:spPr>
          <a:xfrm>
            <a:off x="164592" y="4526280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 pass</a:t>
            </a:r>
            <a:endParaRPr lang="en-US" sz="1100" dirty="0"/>
          </a:p>
        </p:txBody>
      </p:sp>
      <p:sp>
        <p:nvSpPr>
          <p:cNvPr id="41" name="Shape 20">
            <a:extLst>
              <a:ext uri="{FF2B5EF4-FFF2-40B4-BE49-F238E27FC236}">
                <a16:creationId xmlns:a16="http://schemas.microsoft.com/office/drawing/2014/main" id="{E01D1AE0-888C-0AE8-05B9-ED28B740CAA0}"/>
              </a:ext>
            </a:extLst>
          </p:cNvPr>
          <p:cNvSpPr/>
          <p:nvPr/>
        </p:nvSpPr>
        <p:spPr>
          <a:xfrm>
            <a:off x="4718304" y="4462272"/>
            <a:ext cx="4261104" cy="0"/>
          </a:xfrm>
          <a:prstGeom prst="line">
            <a:avLst/>
          </a:prstGeom>
          <a:noFill/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2" name="Text 21">
            <a:extLst>
              <a:ext uri="{FF2B5EF4-FFF2-40B4-BE49-F238E27FC236}">
                <a16:creationId xmlns:a16="http://schemas.microsoft.com/office/drawing/2014/main" id="{C931F03E-352F-FBA1-3E36-DB96A535907D}"/>
              </a:ext>
            </a:extLst>
          </p:cNvPr>
          <p:cNvSpPr/>
          <p:nvPr/>
        </p:nvSpPr>
        <p:spPr>
          <a:xfrm>
            <a:off x="4718304" y="4526280"/>
            <a:ext cx="42611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pass</a:t>
            </a:r>
            <a:endParaRPr lang="en-US" sz="1100" dirty="0"/>
          </a:p>
        </p:txBody>
      </p:sp>
      <p:sp>
        <p:nvSpPr>
          <p:cNvPr id="43" name="Shape 22">
            <a:extLst>
              <a:ext uri="{FF2B5EF4-FFF2-40B4-BE49-F238E27FC236}">
                <a16:creationId xmlns:a16="http://schemas.microsoft.com/office/drawing/2014/main" id="{A99DB8CB-A7D9-8EA8-0808-D399AD5D652E}"/>
              </a:ext>
            </a:extLst>
          </p:cNvPr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4" name="Text 23">
            <a:extLst>
              <a:ext uri="{FF2B5EF4-FFF2-40B4-BE49-F238E27FC236}">
                <a16:creationId xmlns:a16="http://schemas.microsoft.com/office/drawing/2014/main" id="{3DAAFCFC-53DA-DA4E-DDDB-52C3C7F3D229}"/>
              </a:ext>
            </a:extLst>
          </p:cNvPr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depth.frag je prázdny — GPU zapisuje hļbku automaticky. main.frag je kde sa odohráva shadow test.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290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render loop — dva prechody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vyzerá render loop?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64592" y="1481328"/>
            <a:ext cx="8814816" cy="105156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347472" y="15727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1 — DEPTH PASS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7472" y="1865376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 shadow FBO  →  viewport 1024×1024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scény depth shaderom  (len pozície, bez farieb — gl_FragDepth automaticky)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Výsledok: depth mapa uložená v GPU textúre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5786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64592" y="2871216"/>
            <a:ext cx="8814816" cy="105156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347472" y="296265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2 — MAIN PASS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" y="3255264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 default FBO  →  viewport 1280×720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scény main shaderom  (Phong osvetlenie + shadowTest())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 mapa z pass 1 je vstup do fragment shadera — porovnáva hĺbky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4592" y="4005072"/>
            <a:ext cx="4297680" cy="91440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292608" y="4096512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depth.vert / depth.frag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" y="4425696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Transformuje pozíciu do light space.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Fragment shader je prázdny — GPU zapíše hĺbku.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4005072"/>
            <a:ext cx="4315968" cy="91440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4791456" y="4096512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main.frag — shadowTest()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91456" y="4425696"/>
            <a:ext cx="4059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Phong + shadowTest() — porovná hĺbky.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Výsledok: 0.0 (svetlo) alebo 1.0 (tieň).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light space matrix — čo to je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Space Matrix — čo to je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164592" y="1481328"/>
            <a:ext cx="3931920" cy="96012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92608" y="157276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Problém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" y="1901952"/>
            <a:ext cx="36758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Kde bol fragment z pohľadu svetla?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Potrebujeme transformáciu: world → light clip space.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" y="2532888"/>
            <a:ext cx="3931920" cy="96012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292608" y="262432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Riešenie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" y="2953512"/>
            <a:ext cx="36758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lightSpaceMatrix = lookAt svetla × ortho projekcia.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isté čo camera matrix — len z pohľadu svetla.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4592" y="3584448"/>
            <a:ext cx="3931920" cy="804672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92608" y="3675888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Kde sa používa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" y="40050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 pass: transformuje vrcholy.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pass: fragment → UV pre depth mapu.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1508760"/>
            <a:ext cx="731520" cy="822960"/>
          </a:xfrm>
          <a:prstGeom prst="rect">
            <a:avLst/>
          </a:prstGeom>
          <a:solidFill>
            <a:srgbClr val="1E2330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343400" y="1508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93208" y="1920240"/>
            <a:ext cx="128016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5239512" y="1508760"/>
            <a:ext cx="731520" cy="82296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5239512" y="1508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89320" y="1920240"/>
            <a:ext cx="128016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6135624" y="1508760"/>
            <a:ext cx="731520" cy="82296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6135624" y="1508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85432" y="1920240"/>
            <a:ext cx="128016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7031736" y="1508760"/>
            <a:ext cx="731520" cy="82296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7031736" y="1508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[-1,1]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81544" y="1920240"/>
            <a:ext cx="128016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Shape 27"/>
          <p:cNvSpPr/>
          <p:nvPr/>
        </p:nvSpPr>
        <p:spPr>
          <a:xfrm>
            <a:off x="7927848" y="1508760"/>
            <a:ext cx="731520" cy="822960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7927848" y="1508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[0,1]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43400" y="2514600"/>
            <a:ext cx="4636008" cy="530352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4343400" y="2514600"/>
            <a:ext cx="4636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lightSpaceMatrix  =  lightProjection  ×  lightView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3400" y="3154680"/>
            <a:ext cx="2240280" cy="1170432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4471416" y="324612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lightView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471416" y="3575304"/>
            <a:ext cx="19842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lookAt(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LIGHT_POS,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scenaCentre, up)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39128" y="3154680"/>
            <a:ext cx="2240280" cy="1170432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7" name="Text 35"/>
          <p:cNvSpPr/>
          <p:nvPr/>
        </p:nvSpPr>
        <p:spPr>
          <a:xfrm>
            <a:off x="6867144" y="324612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lightProjection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67144" y="3575304"/>
            <a:ext cx="19842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ortho(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-10,10,-10,10,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1.0, 20.0)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0" name="Text 38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lightSpaceMatrix nám hovorí kde bol fragment z pohľadu svetla — to isté čo view×projection pre kameru.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light space matrix — projekcia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Projection — ortho vs perspective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164592" y="4572000"/>
            <a:ext cx="4297680" cy="41148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292608" y="4663440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Smerové svetlo (slnko) → ortho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4572000"/>
            <a:ext cx="4315968" cy="41148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4791456" y="4663440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Bodové svetlo (žiarovka) → perspective</a:t>
            </a:r>
            <a:endParaRPr lang="en-US" sz="1300" dirty="0"/>
          </a:p>
        </p:txBody>
      </p:sp>
      <p:pic>
        <p:nvPicPr>
          <p:cNvPr id="3076" name="Picture 4" descr="Colors, Depth Testing, and Alpha Blending | Real-Time 3D Graphics with  WebGL 2">
            <a:extLst>
              <a:ext uri="{FF2B5EF4-FFF2-40B4-BE49-F238E27FC236}">
                <a16:creationId xmlns:a16="http://schemas.microsoft.com/office/drawing/2014/main" id="{2EA49F5F-7F24-0DD6-22DA-436462292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1359" y="1371600"/>
            <a:ext cx="6192753" cy="2997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pass 2 — shadow test — transformácia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test — transformácia fragmentu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64592" y="1508760"/>
            <a:ext cx="1335024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164592" y="1508760"/>
            <a:ext cx="1335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17904" y="1883664"/>
            <a:ext cx="164592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1700784" y="1508760"/>
            <a:ext cx="1335024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1700784" y="1508760"/>
            <a:ext cx="1335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054096" y="1883664"/>
            <a:ext cx="164592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3236976" y="1508760"/>
            <a:ext cx="1335024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3236976" y="1508760"/>
            <a:ext cx="1335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90288" y="1883664"/>
            <a:ext cx="164592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4773168" y="1508760"/>
            <a:ext cx="1335024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773168" y="1508760"/>
            <a:ext cx="1335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[-1,1]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1883664"/>
            <a:ext cx="164592" cy="0"/>
          </a:xfrm>
          <a:prstGeom prst="line">
            <a:avLst/>
          </a:prstGeom>
          <a:noFill/>
          <a:ln w="254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6309360" y="1508760"/>
            <a:ext cx="1335024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309360" y="1508760"/>
            <a:ext cx="1335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[0,1]</a:t>
            </a:r>
            <a:endParaRPr lang="en-US" sz="1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2377440"/>
            <a:ext cx="4160520" cy="19659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2377440"/>
            <a:ext cx="4498848" cy="896112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1"/>
          <p:cNvSpPr/>
          <p:nvPr/>
        </p:nvSpPr>
        <p:spPr>
          <a:xfrm>
            <a:off x="4608576" y="2468880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Perspektívne delenie → NDC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08576" y="2798064"/>
            <a:ext cx="4242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projCoords = lsPos.xyz / lsPos.w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ortho: w=1, delenie nič nerobí.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480560" y="3364992"/>
            <a:ext cx="4498848" cy="896112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4"/>
          <p:cNvSpPr/>
          <p:nvPr/>
        </p:nvSpPr>
        <p:spPr>
          <a:xfrm>
            <a:off x="4608576" y="345643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Normalizácia NDC → UV [0,1]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608576" y="3785616"/>
            <a:ext cx="4242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 = proj * 0.5 + 0.5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proj.xy = UV pre depth mapu,  proj.z = hĺbka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7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Výsledok: proj.xy hovorí kde vzorkovať depth mapu,  proj.z je hĺbka nášho fragmentu.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pass 2 — shadow test — porovnanie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test — logika porovnania</a:t>
            </a:r>
            <a:endParaRPr lang="en-US" sz="3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17320"/>
            <a:ext cx="4663440" cy="2834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4592" y="1508760"/>
            <a:ext cx="4023360" cy="640080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292608" y="15727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Vzorkuj depth mapu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92608" y="185623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closestDepth = texture(shadowMap, projCoords.xy)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4592" y="2194560"/>
            <a:ext cx="4023360" cy="64008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292608" y="22585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Získaj hĺbku fragmentu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2608" y="254203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currentDepth = projCoords.z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64592" y="2880360"/>
            <a:ext cx="4023360" cy="640080"/>
          </a:xfrm>
          <a:prstGeom prst="rect">
            <a:avLst/>
          </a:prstGeom>
          <a:solidFill>
            <a:srgbClr val="1E2330"/>
          </a:solidFill>
          <a:ln w="12700">
            <a:solidFill>
              <a:srgbClr val="4AC8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292608" y="29443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Porovnaj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92608" y="322783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&gt; closest  →  TIEŇ (1.0)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4592" y="3566160"/>
            <a:ext cx="4023360" cy="640080"/>
          </a:xfrm>
          <a:prstGeom prst="rect">
            <a:avLst/>
          </a:prstGeom>
          <a:solidFill>
            <a:srgbClr val="1E2330"/>
          </a:solidFill>
          <a:ln w="12700">
            <a:solidFill>
              <a:srgbClr val="4AE88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6"/>
          <p:cNvSpPr/>
          <p:nvPr/>
        </p:nvSpPr>
        <p:spPr>
          <a:xfrm>
            <a:off x="292608" y="363016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Aplikuj na osvetlenie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92608" y="391363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lighting *= (1.0 - shadow)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19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 je náš fragment ďalej od svetla ako closest depth → niekto je pred nami → sme v tieni.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artefakty — shadow acne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Acne — príčina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164592" y="1508760"/>
            <a:ext cx="4023360" cy="123444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292608" y="160020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Príčina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92608" y="1929384"/>
            <a:ext cx="376732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Každý texel depth mapy pokrýva plochu.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Fragment sa porovnáva so sebou s numerickou chybou.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self-shadowing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64592" y="2834640"/>
            <a:ext cx="4023360" cy="141732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292608" y="292608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Self-shadowing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2608" y="3255264"/>
            <a:ext cx="376732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currentDepth &gt; closestDepth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povrch háže tieň sám na seba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Horšie pri plytkom uhle svetla voči povrchu.</a:t>
            </a:r>
            <a:endParaRPr lang="en-US" sz="1200" dirty="0"/>
          </a:p>
        </p:txBody>
      </p:sp>
      <p:pic>
        <p:nvPicPr>
          <p:cNvPr id="4098" name="Picture 2" descr="3d - Shadow Quality (shadow acne) - Stack Overflow">
            <a:extLst>
              <a:ext uri="{FF2B5EF4-FFF2-40B4-BE49-F238E27FC236}">
                <a16:creationId xmlns:a16="http://schemas.microsoft.com/office/drawing/2014/main" id="{E7425585-A365-BFBF-9E88-0D96DA0C06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11" r="5590"/>
          <a:stretch>
            <a:fillRect/>
          </a:stretch>
        </p:blipFill>
        <p:spPr bwMode="auto">
          <a:xfrm>
            <a:off x="4504943" y="1408747"/>
            <a:ext cx="4346449" cy="3119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artefakty — bias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— riešenie Shadow Acne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164592" y="43159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 = 0.0  →  acne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663440" y="43159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 = 0.005  →  správne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9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Adaptívny bias: max(0.05 * (1.0 - dot(normal, lightDir)), 0.005)  —  závisí od uhlu svetla.</a:t>
            </a:r>
            <a:endParaRPr lang="en-US" sz="1200" dirty="0"/>
          </a:p>
        </p:txBody>
      </p:sp>
      <p:pic>
        <p:nvPicPr>
          <p:cNvPr id="5122" name="Picture 2" descr="r/GraphicsProgramming - Shadow samples on sloped surfaces (learnopengl.com)">
            <a:extLst>
              <a:ext uri="{FF2B5EF4-FFF2-40B4-BE49-F238E27FC236}">
                <a16:creationId xmlns:a16="http://schemas.microsoft.com/office/drawing/2014/main" id="{99290ABE-FB85-9F41-F96E-309FD2F74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" y="2147316"/>
            <a:ext cx="4324580" cy="1392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/GraphicsProgramming - Shadow bias (learnopengl.com)">
            <a:extLst>
              <a:ext uri="{FF2B5EF4-FFF2-40B4-BE49-F238E27FC236}">
                <a16:creationId xmlns:a16="http://schemas.microsoft.com/office/drawing/2014/main" id="{FB1B7CA6-2DAB-D9DE-940F-05B52AC2D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147316"/>
            <a:ext cx="4531804" cy="1392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artefakty — peter panning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TEÓRIA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Panning — príliš veľký Bias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164592" y="43159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E8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 = 0.005  →  správne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663440" y="43159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7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 = 0.05  →  peter panning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9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 posúva povrch voči svetlu — príliš veľká hodnota odpojí tieň od objektu. Hľadaj 0.005–0.02.</a:t>
            </a:r>
            <a:endParaRPr lang="en-US" sz="1200" dirty="0"/>
          </a:p>
        </p:txBody>
      </p:sp>
      <p:pic>
        <p:nvPicPr>
          <p:cNvPr id="6146" name="Picture 2" descr="c++ - OpenGL shadow peter-panning - Stack Overflow">
            <a:extLst>
              <a:ext uri="{FF2B5EF4-FFF2-40B4-BE49-F238E27FC236}">
                <a16:creationId xmlns:a16="http://schemas.microsoft.com/office/drawing/2014/main" id="{3647CF13-17B9-523A-2C7D-8BF1660E69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" t="2646" r="-1461" b="5938"/>
          <a:stretch>
            <a:fillRect/>
          </a:stretch>
        </p:blipFill>
        <p:spPr bwMode="auto">
          <a:xfrm>
            <a:off x="667512" y="1667827"/>
            <a:ext cx="3390900" cy="253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c++ - OpenGL shadow peter-panning - Stack Overflow">
            <a:extLst>
              <a:ext uri="{FF2B5EF4-FFF2-40B4-BE49-F238E27FC236}">
                <a16:creationId xmlns:a16="http://schemas.microsoft.com/office/drawing/2014/main" id="{52B52664-76D0-837F-B64F-A2CCC3AA0F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5" r="9167" b="10384"/>
          <a:stretch>
            <a:fillRect/>
          </a:stretch>
        </p:blipFill>
        <p:spPr bwMode="auto">
          <a:xfrm>
            <a:off x="4663440" y="1667827"/>
            <a:ext cx="4168616" cy="253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PCF — percentage closer filtering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solidFill>
            <a:srgbClr val="1A1E26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64592" y="402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PCF — princíp mäkkých tieňov</a:t>
            </a:r>
            <a:endParaRPr lang="en-US" sz="3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17320"/>
            <a:ext cx="4663440" cy="306324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3154680"/>
            <a:ext cx="402336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64592" y="1508760"/>
            <a:ext cx="4023360" cy="713232"/>
          </a:xfrm>
          <a:prstGeom prst="rect">
            <a:avLst/>
          </a:prstGeom>
          <a:solidFill>
            <a:srgbClr val="1E2330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7"/>
          <p:cNvSpPr/>
          <p:nvPr/>
        </p:nvSpPr>
        <p:spPr>
          <a:xfrm>
            <a:off x="292608" y="160020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 shadows (bez PCF)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92608" y="1929384"/>
            <a:ext cx="3767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Každý fragment = binárne: tieň alebo svetlo.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64592" y="2313432"/>
            <a:ext cx="4023360" cy="749808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0"/>
          <p:cNvSpPr/>
          <p:nvPr/>
        </p:nvSpPr>
        <p:spPr>
          <a:xfrm>
            <a:off x="292608" y="240487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PCF — viacero vzoriek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92608" y="2734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vzoriek v okolí bodu → priemer → plynulý prechod.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3"/>
          <p:cNvSpPr/>
          <p:nvPr/>
        </p:nvSpPr>
        <p:spPr>
          <a:xfrm>
            <a:off x="274320" y="4800600"/>
            <a:ext cx="8595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PCF trade-off: 9× viac vzoriek z depth mapy, ale tiene vyzerajú výrazne lepšie.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A1E26"/>
          </a:solidFill>
          <a:ln w="12700">
            <a:solidFill>
              <a:srgbClr val="1A1E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program workshopu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0" y="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budeme robiť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64592" y="1508760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292608" y="1545336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 — Shadow FBO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545336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initShadowResources()  —  FBO, depth textúra, clamp-to-border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0" y="1545336"/>
            <a:ext cx="6583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592" y="1876349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292608" y="1912925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 — Light Space Matrix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1912925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buildLightSpaceMatrix()  —  ortho projekcia × lookAt svetla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1912925"/>
            <a:ext cx="6583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64592" y="2243938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92608" y="2280514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 — Depth Pass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2280514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renderDepthPass()  —  bind FBO, depth shader, renderScene()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2280514"/>
            <a:ext cx="6583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 min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64592" y="2611526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E8C4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292608" y="2648102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C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D — Bind Shadow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926080" y="2648102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bindShadowDataForMainPass()  —  texture unit, uniform upload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648102"/>
            <a:ext cx="6583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64592" y="2979115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292608" y="3015691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1 — PCF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26080" y="3015691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3×3 kernel, mäkké tiene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4592" y="3346704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292608" y="3383280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2 — Pohyblivé svetlo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926080" y="3383280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dynamická lightSpaceMatrix každý frame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64592" y="3714293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292608" y="3750869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3 — Bias experiment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926080" y="3750869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vizuálne porovnanie acne vs peter panning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4592" y="4081882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292608" y="4118458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4 — Shadow map res.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26080" y="4118458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1024→2048→512: vplyv rozlíšenia na kvalitu tieňa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4592" y="4449470"/>
            <a:ext cx="8814816" cy="331013"/>
          </a:xfrm>
          <a:prstGeom prst="rect">
            <a:avLst/>
          </a:prstGeom>
          <a:solidFill>
            <a:srgbClr val="1E2330"/>
          </a:solidFill>
          <a:ln w="12700">
            <a:solidFill>
              <a:srgbClr val="A04AE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292608" y="4486046"/>
            <a:ext cx="256032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4A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5 — Farebný ambient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26080" y="4486046"/>
            <a:ext cx="52578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teplé/studené tiene — ambient farba namiesto čiernej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Hotovo.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48056" y="2474155"/>
            <a:ext cx="7441809" cy="26693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accent2"/>
                </a:solidFill>
              </a:rPr>
              <a:t>Zdroje</a:t>
            </a:r>
            <a:r>
              <a:rPr lang="en-US" sz="1600" b="1" dirty="0">
                <a:solidFill>
                  <a:schemeClr val="accent2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2"/>
                </a:solidFill>
                <a:hlinkClick r:id="rId3"/>
              </a:rPr>
              <a:t>https://www.youtube.com/watch?v=Jhopq2lkzMQ</a:t>
            </a: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2"/>
                </a:solidFill>
                <a:hlinkClick r:id="rId4"/>
              </a:rPr>
              <a:t>https://www.opengl-tutorial.org/intermediate-tutorials/tutorial-16-shadow-mapping/</a:t>
            </a: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2"/>
                </a:solidFill>
                <a:hlinkClick r:id="rId5"/>
              </a:rPr>
              <a:t>https://en.wikipedia.org/wiki/Shadow_mapping</a:t>
            </a: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2"/>
                </a:solidFill>
                <a:hlinkClick r:id="rId6"/>
              </a:rPr>
              <a:t>https://vis.uni-jena.de/Lecture/ComputerGraphics2/Lec9_ShadowMapping.pdf</a:t>
            </a: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2"/>
                </a:solidFill>
                <a:hlinkClick r:id="rId7"/>
              </a:rPr>
              <a:t>https://learnopengl.com/Advanced-Lighting/Shadows/Shadow-Mapping</a:t>
            </a:r>
            <a:endParaRPr lang="en-US" sz="1600" b="1" dirty="0">
              <a:solidFill>
                <a:schemeClr val="accent2"/>
              </a:solidFill>
            </a:endParaRPr>
          </a:p>
          <a:p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669280" y="1463040"/>
            <a:ext cx="3291840" cy="1463040"/>
          </a:xfrm>
          <a:prstGeom prst="rect">
            <a:avLst/>
          </a:prstGeom>
          <a:solidFill>
            <a:srgbClr val="1E2330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5669280" y="14630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7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Otázky?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321040" y="4114800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8531352" y="4114800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8741664" y="4114800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8951976" y="4114800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8321040" y="4325112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8531352" y="4325112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8741664" y="4325112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8951976" y="4325112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7"/>
          <p:cNvSpPr/>
          <p:nvPr/>
        </p:nvSpPr>
        <p:spPr>
          <a:xfrm>
            <a:off x="8321040" y="4535424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8531352" y="4535424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8741664" y="4535424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Shape 20"/>
          <p:cNvSpPr/>
          <p:nvPr/>
        </p:nvSpPr>
        <p:spPr>
          <a:xfrm>
            <a:off x="8951976" y="4535424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8321040" y="4745736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8531352" y="4745736"/>
            <a:ext cx="164592" cy="164592"/>
          </a:xfrm>
          <a:prstGeom prst="rect">
            <a:avLst/>
          </a:prstGeom>
          <a:solidFill>
            <a:srgbClr val="1E2330"/>
          </a:solidFill>
          <a:ln w="12700">
            <a:solidFill>
              <a:srgbClr val="1E233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Shape 23"/>
          <p:cNvSpPr/>
          <p:nvPr/>
        </p:nvSpPr>
        <p:spPr>
          <a:xfrm>
            <a:off x="8741664" y="4745736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8951976" y="4745736"/>
            <a:ext cx="164592" cy="164592"/>
          </a:xfrm>
          <a:prstGeom prst="rect">
            <a:avLst/>
          </a:prstGeom>
          <a:solidFill>
            <a:srgbClr val="E8724A"/>
          </a:solidFill>
          <a:ln w="12700">
            <a:solidFill>
              <a:srgbClr val="E872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1483</Words>
  <Application>Microsoft Office PowerPoint</Application>
  <PresentationFormat>On-screen Show (16:9)</PresentationFormat>
  <Paragraphs>287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Shadow Mapping Workshop</dc:title>
  <dc:subject>PptxGenJS Presentation</dc:subject>
  <dc:creator>PptxGenJS</dc:creator>
  <cp:lastModifiedBy>Yevhen Lukianets</cp:lastModifiedBy>
  <cp:revision>5</cp:revision>
  <dcterms:created xsi:type="dcterms:W3CDTF">2026-03-22T13:55:09Z</dcterms:created>
  <dcterms:modified xsi:type="dcterms:W3CDTF">2026-03-22T21:49:13Z</dcterms:modified>
</cp:coreProperties>
</file>