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568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hopq2lkzMQ" TargetMode="External"/><Relationship Id="rId7" Type="http://schemas.openxmlformats.org/officeDocument/2006/relationships/hyperlink" Target="https://learnopengl.com/Advanced-Lighting/Shadows/Shadow-Mappin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vis.uni-jena.de/Lecture/ComputerGraphics2/Lec9_ShadowMapping.pdf" TargetMode="External"/><Relationship Id="rId5" Type="http://schemas.openxmlformats.org/officeDocument/2006/relationships/hyperlink" Target="https://en.wikipedia.org/wiki/Shadow_mapping" TargetMode="External"/><Relationship Id="rId4" Type="http://schemas.openxmlformats.org/officeDocument/2006/relationships/hyperlink" Target="https://www.opengl-tutorial.org/intermediate-tutorials/tutorial-16-shadow-mapp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74320"/>
            <a:ext cx="201168" cy="201168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8028432" y="274320"/>
            <a:ext cx="201168" cy="201168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8284464" y="274320"/>
            <a:ext cx="201168" cy="2011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540496" y="274320"/>
            <a:ext cx="201168" cy="2011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8796528" y="274320"/>
            <a:ext cx="201168" cy="2011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7772400" y="530352"/>
            <a:ext cx="201168" cy="201168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028432" y="530352"/>
            <a:ext cx="201168" cy="2011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8284464" y="530352"/>
            <a:ext cx="201168" cy="2011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8540496" y="530352"/>
            <a:ext cx="201168" cy="2011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8796528" y="530352"/>
            <a:ext cx="201168" cy="201168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7772400" y="786384"/>
            <a:ext cx="201168" cy="2011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8028432" y="786384"/>
            <a:ext cx="201168" cy="2011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8284464" y="786384"/>
            <a:ext cx="201168" cy="201168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8540496" y="786384"/>
            <a:ext cx="201168" cy="2011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8796528" y="786384"/>
            <a:ext cx="201168" cy="201168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7772400" y="1042416"/>
            <a:ext cx="201168" cy="2011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8028432" y="1042416"/>
            <a:ext cx="201168" cy="2011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8284464" y="1042416"/>
            <a:ext cx="201168" cy="2011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8540496" y="1042416"/>
            <a:ext cx="201168" cy="201168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8796528" y="1042416"/>
            <a:ext cx="201168" cy="201168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7772400" y="1298448"/>
            <a:ext cx="201168" cy="201168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8028432" y="1298448"/>
            <a:ext cx="201168" cy="2011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8284464" y="1298448"/>
            <a:ext cx="201168" cy="2011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8540496" y="1298448"/>
            <a:ext cx="201168" cy="2011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8796528" y="1298448"/>
            <a:ext cx="201168" cy="201168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548640" y="1280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</a:t>
            </a:r>
            <a:endParaRPr lang="en-US" sz="6400" dirty="0"/>
          </a:p>
        </p:txBody>
      </p:sp>
      <p:sp>
        <p:nvSpPr>
          <p:cNvPr id="28" name="Text 26"/>
          <p:cNvSpPr/>
          <p:nvPr/>
        </p:nvSpPr>
        <p:spPr>
          <a:xfrm>
            <a:off x="548640" y="2011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E8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6400" dirty="0"/>
          </a:p>
        </p:txBody>
      </p:sp>
      <p:sp>
        <p:nvSpPr>
          <p:cNvPr id="29" name="Text 27"/>
          <p:cNvSpPr/>
          <p:nvPr/>
        </p:nvSpPr>
        <p:spPr>
          <a:xfrm>
            <a:off x="548640" y="3063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Implementácia tieňov v reálnom čase — technická teória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480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+ LWJGL 3  ·  OpenGL 3.3  ·  GLSL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shadow mapping — princíp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solidFill>
            <a:srgbClr val="1A1E26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TEÓRIA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 renderovacie prechody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64592" y="1508760"/>
            <a:ext cx="3931920" cy="1188720"/>
          </a:xfrm>
          <a:prstGeom prst="rect">
            <a:avLst/>
          </a:prstGeom>
          <a:solidFill>
            <a:srgbClr val="1E2330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292608" y="1600200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1 — Depth Pass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1929384"/>
            <a:ext cx="36758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Pohľad z pozície svetla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Ulož iba hĺbku → depth mapa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2788920"/>
            <a:ext cx="3931920" cy="1417320"/>
          </a:xfrm>
          <a:prstGeom prst="rect">
            <a:avLst/>
          </a:prstGeom>
          <a:solidFill>
            <a:srgbClr val="1E2330"/>
          </a:solidFill>
          <a:ln w="12700">
            <a:solidFill>
              <a:srgbClr val="4AC8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292608" y="2880360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2 — Main Pass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" y="3209544"/>
            <a:ext cx="367588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Pohľad z pozície kamery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Porovnaj hĺbku s depth mapou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tieň alebo svetlo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274320" y="4800600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Svetlo vidí scénu rovnako ako kamera — len z iného uhla.</a:t>
            </a:r>
            <a:endParaRPr lang="en-US" sz="1200" dirty="0"/>
          </a:p>
        </p:txBody>
      </p:sp>
      <p:pic>
        <p:nvPicPr>
          <p:cNvPr id="1028" name="Picture 4" descr="The shadow mapping algorithm: The depth values as seen from the light source are stored in a shadow map, and are then used in a second pass to generate shadows on the objects.  ">
            <a:extLst>
              <a:ext uri="{FF2B5EF4-FFF2-40B4-BE49-F238E27FC236}">
                <a16:creationId xmlns:a16="http://schemas.microsoft.com/office/drawing/2014/main" id="{51079551-DBD8-132C-0E92-11EB40D01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912" y="1829206"/>
            <a:ext cx="4730496" cy="184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pass 1 — depth mapa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solidFill>
            <a:srgbClr val="1A1E26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TEÓRIA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je Depth Mapa?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64592" y="1481328"/>
            <a:ext cx="3931920" cy="960120"/>
          </a:xfrm>
          <a:prstGeom prst="rect">
            <a:avLst/>
          </a:prstGeom>
          <a:solidFill>
            <a:srgbClr val="1E2330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292608" y="1572768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Čo to je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1901952"/>
            <a:ext cx="36758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Textúra kde každý pixel = hĺbka fragmentu.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Nie farba — iba jedno číslo 0.0 až 1.0.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2532888"/>
            <a:ext cx="3931920" cy="960120"/>
          </a:xfrm>
          <a:prstGeom prst="rect">
            <a:avLst/>
          </a:prstGeom>
          <a:solidFill>
            <a:srgbClr val="1E2330"/>
          </a:solidFill>
          <a:ln w="12700">
            <a:solidFill>
              <a:srgbClr val="4AC8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292608" y="2624328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pohľadu svetla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" y="2953512"/>
            <a:ext cx="36758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Renderujeme scénu akoby sme boli svetlo.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Tmavá = blízko svetla,  svetlá = ďaleko.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" y="3584448"/>
            <a:ext cx="3931920" cy="804672"/>
          </a:xfrm>
          <a:prstGeom prst="rect">
            <a:avLst/>
          </a:prstGeom>
          <a:solidFill>
            <a:srgbClr val="1E2330"/>
          </a:solidFill>
          <a:ln w="12700">
            <a:solidFill>
              <a:srgbClr val="4AE8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292608" y="3675888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E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 čo ju použijeme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" y="4005072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main passe porovnáme hĺbku s depth mapou → tieň alebo svetlo.</a:t>
            </a:r>
            <a:endParaRPr lang="en-US" sz="1200" dirty="0"/>
          </a:p>
        </p:txBody>
      </p:sp>
      <p:pic>
        <p:nvPicPr>
          <p:cNvPr id="2050" name="Picture 2" descr="The shadow mapping algorithm: The depth values as seen from the light source are stored in a shadow map, and are then used in a second pass to generate shadows on the objects.  ">
            <a:extLst>
              <a:ext uri="{FF2B5EF4-FFF2-40B4-BE49-F238E27FC236}">
                <a16:creationId xmlns:a16="http://schemas.microsoft.com/office/drawing/2014/main" id="{FAA4684D-C0D7-E22D-82A5-1D525B46C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680" y="1991133"/>
            <a:ext cx="4754880" cy="185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pass 1 — framebuffer object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solidFill>
            <a:srgbClr val="1A1E26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TEÓRIA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depth mapu uložiť? → FBO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64592" y="1508760"/>
            <a:ext cx="8814816" cy="1005840"/>
          </a:xfrm>
          <a:prstGeom prst="rect">
            <a:avLst/>
          </a:prstGeom>
          <a:solidFill>
            <a:srgbClr val="1E2330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292608" y="1600200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Problém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1929384"/>
            <a:ext cx="8558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Normálne OpenGL renderuje priamo na obrazovku a výsledok zahodí.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ale výsledok depth passu potrebujeme — použijeme ho v main passe.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2606040"/>
            <a:ext cx="8814816" cy="713232"/>
          </a:xfrm>
          <a:prstGeom prst="rect">
            <a:avLst/>
          </a:prstGeom>
          <a:solidFill>
            <a:srgbClr val="1E2330"/>
          </a:solidFill>
          <a:ln w="12700">
            <a:solidFill>
              <a:srgbClr val="4AE8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292608" y="2697480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E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Riešenie — FBO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" y="3026664"/>
            <a:ext cx="8558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Framebuffer Object = náhradná "obrazovka". Namiesto monitora renderuješ do textúry v pamäti GPU.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" y="3410712"/>
            <a:ext cx="4297680" cy="932688"/>
          </a:xfrm>
          <a:prstGeom prst="rect">
            <a:avLst/>
          </a:prstGeom>
          <a:solidFill>
            <a:srgbClr val="1E2330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292608" y="3502152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 na začiatku (init)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" y="3831336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Vytvor FBO + depth textúru.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Uloži len handle (číslo).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410712"/>
            <a:ext cx="4315968" cy="932688"/>
          </a:xfrm>
          <a:prstGeom prst="rect">
            <a:avLst/>
          </a:prstGeom>
          <a:solidFill>
            <a:srgbClr val="1E2330"/>
          </a:solidFill>
          <a:ln w="12700">
            <a:solidFill>
              <a:srgbClr val="4AC8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791456" y="3502152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Každý frame (render loop)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91456" y="3831336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Bindni FBO → vymaž → renderuj.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Obsah sa prepíše odznova.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pass 1 — GPU pamäť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solidFill>
            <a:srgbClr val="1A1E26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TEÓRIA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žijú dáta na GPU?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64592" y="1508760"/>
            <a:ext cx="2194560" cy="2926080"/>
          </a:xfrm>
          <a:prstGeom prst="rect">
            <a:avLst/>
          </a:prstGeom>
          <a:solidFill>
            <a:srgbClr val="1E2330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64592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/ RAM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196596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kód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shadowFBO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shadowMap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 handles (čísla!)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59152" y="2971800"/>
            <a:ext cx="502920" cy="0"/>
          </a:xfrm>
          <a:prstGeom prst="line">
            <a:avLst/>
          </a:prstGeom>
          <a:noFill/>
          <a:ln w="254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2359152" y="2724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 calls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62072" y="1508760"/>
            <a:ext cx="3474720" cy="2926080"/>
          </a:xfrm>
          <a:prstGeom prst="rect">
            <a:avLst/>
          </a:prstGeom>
          <a:solidFill>
            <a:srgbClr val="1E2330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2862072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pamäť (VRAM)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17520" y="2011680"/>
            <a:ext cx="3163824" cy="640080"/>
          </a:xfrm>
          <a:prstGeom prst="rect">
            <a:avLst/>
          </a:prstGeom>
          <a:solidFill>
            <a:srgbClr val="252B3A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3017520" y="2011680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99432" y="2651760"/>
            <a:ext cx="0" cy="256032"/>
          </a:xfrm>
          <a:prstGeom prst="line">
            <a:avLst/>
          </a:prstGeom>
          <a:noFill/>
          <a:ln w="12700">
            <a:solidFill>
              <a:srgbClr val="4AC8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3017520" y="2743200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GL_DEPTH_ATTACHMENT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17520" y="2999232"/>
            <a:ext cx="3163824" cy="822960"/>
          </a:xfrm>
          <a:prstGeom prst="rect">
            <a:avLst/>
          </a:prstGeom>
          <a:solidFill>
            <a:srgbClr val="252B3A"/>
          </a:solidFill>
          <a:ln w="12700">
            <a:solidFill>
              <a:srgbClr val="4AC8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3017520" y="2999232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 Texture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 × 1024 × float32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36792" y="2971800"/>
            <a:ext cx="45720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336792" y="27249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93992" y="1508760"/>
            <a:ext cx="2185416" cy="2926080"/>
          </a:xfrm>
          <a:prstGeom prst="rect">
            <a:avLst/>
          </a:prstGeom>
          <a:solidFill>
            <a:srgbClr val="1E2330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793992" y="1600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FBO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19659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buffer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 buffer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monitor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274320" y="4800600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FBO = presmerujeme render do textúry namiesto na monitor. Handle je len číslo — dáta sú na GPU.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render loop — dva prechody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solidFill>
            <a:srgbClr val="1A1E26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TEÓRIA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vyzerá render loop?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64592" y="1481328"/>
            <a:ext cx="8814816" cy="1051560"/>
          </a:xfrm>
          <a:prstGeom prst="rect">
            <a:avLst/>
          </a:prstGeom>
          <a:solidFill>
            <a:srgbClr val="1E2330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47472" y="15727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1 — DEPTH PASS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18653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 shadow FBO  →  viewport 1024×1024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 scény depth shaderom  (len pozície, bez farieb — gl_FragDepth automaticky)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Výsledok: depth mapa uložená v GPU textúre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25786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4592" y="2871216"/>
            <a:ext cx="8814816" cy="1051560"/>
          </a:xfrm>
          <a:prstGeom prst="rect">
            <a:avLst/>
          </a:prstGeom>
          <a:solidFill>
            <a:srgbClr val="1E2330"/>
          </a:solidFill>
          <a:ln w="12700">
            <a:solidFill>
              <a:srgbClr val="4AC8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347472" y="29626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2 — MAIN PASS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" y="325526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 default FBO  →  viewport 1280×720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 scény main shaderom  (Phong osvetlenie + shadowTest())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 mapa z pass 1 je vstup do fragment shadera — porovnáva hĺbky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" y="4005072"/>
            <a:ext cx="4297680" cy="914400"/>
          </a:xfrm>
          <a:prstGeom prst="rect">
            <a:avLst/>
          </a:prstGeom>
          <a:solidFill>
            <a:srgbClr val="1E2330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292608" y="4096512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depth.vert / depth.frag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" y="4425696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Transformuje pozíciu do light space.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 shader je prázdny — GPU zapíše hĺbku.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4005072"/>
            <a:ext cx="4315968" cy="914400"/>
          </a:xfrm>
          <a:prstGeom prst="rect">
            <a:avLst/>
          </a:prstGeom>
          <a:solidFill>
            <a:srgbClr val="1E2330"/>
          </a:solidFill>
          <a:ln w="12700">
            <a:solidFill>
              <a:srgbClr val="4AC8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791456" y="4096512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main.frag — shadowTest()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91456" y="4425696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Phong + shadowTest() — porovná hĺbky.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Výsledok: 0.0 (svetlo) alebo 1.0 (tieň).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light space matrix — čo to je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solidFill>
            <a:srgbClr val="1A1E26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TEÓRIA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Space Matrix — čo to je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64592" y="1481328"/>
            <a:ext cx="3931920" cy="960120"/>
          </a:xfrm>
          <a:prstGeom prst="rect">
            <a:avLst/>
          </a:prstGeom>
          <a:solidFill>
            <a:srgbClr val="1E2330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292608" y="1572768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Problém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1901952"/>
            <a:ext cx="36758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Kde bol fragment z pohľadu svetla?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Potrebujeme transformáciu: world → light clip space.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2532888"/>
            <a:ext cx="3931920" cy="960120"/>
          </a:xfrm>
          <a:prstGeom prst="rect">
            <a:avLst/>
          </a:prstGeom>
          <a:solidFill>
            <a:srgbClr val="1E2330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292608" y="2624328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Riešenie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" y="2953512"/>
            <a:ext cx="36758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lightSpaceMatrix = lookAt svetla × ortho projekcia.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isté čo camera matrix — len z pohľadu svetla.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" y="3584448"/>
            <a:ext cx="3931920" cy="804672"/>
          </a:xfrm>
          <a:prstGeom prst="rect">
            <a:avLst/>
          </a:prstGeom>
          <a:solidFill>
            <a:srgbClr val="1E2330"/>
          </a:solidFill>
          <a:ln w="12700">
            <a:solidFill>
              <a:srgbClr val="4AC8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292608" y="3675888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Kde sa používa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" y="4005072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 pass: transformuje vrcholy.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pass: fragment → UV pre depth mapu.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1508760"/>
            <a:ext cx="731520" cy="822960"/>
          </a:xfrm>
          <a:prstGeom prst="rect">
            <a:avLst/>
          </a:prstGeom>
          <a:solidFill>
            <a:srgbClr val="1E2330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34340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93208" y="1920240"/>
            <a:ext cx="128016" cy="0"/>
          </a:xfrm>
          <a:prstGeom prst="line">
            <a:avLst/>
          </a:prstGeom>
          <a:noFill/>
          <a:ln w="254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5239512" y="1508760"/>
            <a:ext cx="731520" cy="822960"/>
          </a:xfrm>
          <a:prstGeom prst="rect">
            <a:avLst/>
          </a:prstGeom>
          <a:solidFill>
            <a:srgbClr val="1E2330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5239512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1920240"/>
            <a:ext cx="128016" cy="0"/>
          </a:xfrm>
          <a:prstGeom prst="line">
            <a:avLst/>
          </a:prstGeom>
          <a:noFill/>
          <a:ln w="254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6135624" y="1508760"/>
            <a:ext cx="731520" cy="822960"/>
          </a:xfrm>
          <a:prstGeom prst="rect">
            <a:avLst/>
          </a:prstGeom>
          <a:solidFill>
            <a:srgbClr val="1E2330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6135624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85432" y="1920240"/>
            <a:ext cx="128016" cy="0"/>
          </a:xfrm>
          <a:prstGeom prst="line">
            <a:avLst/>
          </a:prstGeom>
          <a:noFill/>
          <a:ln w="254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7031736" y="1508760"/>
            <a:ext cx="731520" cy="822960"/>
          </a:xfrm>
          <a:prstGeom prst="rect">
            <a:avLst/>
          </a:prstGeom>
          <a:solidFill>
            <a:srgbClr val="1E2330"/>
          </a:solidFill>
          <a:ln w="12700">
            <a:solidFill>
              <a:srgbClr val="4AC8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7031736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A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[-1,1]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81544" y="1920240"/>
            <a:ext cx="128016" cy="0"/>
          </a:xfrm>
          <a:prstGeom prst="line">
            <a:avLst/>
          </a:prstGeom>
          <a:noFill/>
          <a:ln w="254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7927848" y="1508760"/>
            <a:ext cx="731520" cy="822960"/>
          </a:xfrm>
          <a:prstGeom prst="rect">
            <a:avLst/>
          </a:prstGeom>
          <a:solidFill>
            <a:srgbClr val="1E2330"/>
          </a:solidFill>
          <a:ln w="12700">
            <a:solidFill>
              <a:srgbClr val="4AE8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7927848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E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AE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[0,1]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43400" y="2514600"/>
            <a:ext cx="4636008" cy="530352"/>
          </a:xfrm>
          <a:prstGeom prst="rect">
            <a:avLst/>
          </a:prstGeom>
          <a:solidFill>
            <a:srgbClr val="1E2330"/>
          </a:solidFill>
          <a:ln w="12700">
            <a:solidFill>
              <a:srgbClr val="4AE8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4343400" y="2514600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E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lightSpaceMatrix  =  lightProjection  ×  lightView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43400" y="3154680"/>
            <a:ext cx="2240280" cy="1170432"/>
          </a:xfrm>
          <a:prstGeom prst="rect">
            <a:avLst/>
          </a:prstGeom>
          <a:solidFill>
            <a:srgbClr val="1E2330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4471416" y="3246120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lightView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471416" y="3575304"/>
            <a:ext cx="1984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lookAt(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LIGHT_POS,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scenaCentre, up)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39128" y="3154680"/>
            <a:ext cx="2240280" cy="1170432"/>
          </a:xfrm>
          <a:prstGeom prst="rect">
            <a:avLst/>
          </a:prstGeom>
          <a:solidFill>
            <a:srgbClr val="1E2330"/>
          </a:solidFill>
          <a:ln w="12700">
            <a:solidFill>
              <a:srgbClr val="4AC8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6867144" y="3246120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lightProjection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67144" y="3575304"/>
            <a:ext cx="1984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ortho(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-10,10,-10,10,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1.0, 20.0)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274320" y="4800600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lightSpaceMatrix nám hovorí kde bol fragment z pohľadu svetla — to isté čo view×projection pre kameru.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light space matrix — projekcia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solidFill>
            <a:srgbClr val="1A1E26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TEÓRIA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Projection — ortho vs perspective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164592" y="4572000"/>
            <a:ext cx="4297680" cy="411480"/>
          </a:xfrm>
          <a:prstGeom prst="rect">
            <a:avLst/>
          </a:prstGeom>
          <a:solidFill>
            <a:srgbClr val="1E2330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292608" y="4663440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Smerové svetlo (slnko) → ortho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4572000"/>
            <a:ext cx="4315968" cy="411480"/>
          </a:xfrm>
          <a:prstGeom prst="rect">
            <a:avLst/>
          </a:prstGeom>
          <a:solidFill>
            <a:srgbClr val="1E2330"/>
          </a:solidFill>
          <a:ln w="12700">
            <a:solidFill>
              <a:srgbClr val="4AC8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4791456" y="4663440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Bodové svetlo (žiarovka) → perspective</a:t>
            </a:r>
            <a:endParaRPr lang="en-US" sz="1300" dirty="0"/>
          </a:p>
        </p:txBody>
      </p:sp>
      <p:pic>
        <p:nvPicPr>
          <p:cNvPr id="3076" name="Picture 4" descr="Colors, Depth Testing, and Alpha Blending | Real-Time 3D Graphics with  WebGL 2">
            <a:extLst>
              <a:ext uri="{FF2B5EF4-FFF2-40B4-BE49-F238E27FC236}">
                <a16:creationId xmlns:a16="http://schemas.microsoft.com/office/drawing/2014/main" id="{2EA49F5F-7F24-0DD6-22DA-436462292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359" y="1371600"/>
            <a:ext cx="6192753" cy="299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pass 2 — shadow test — transformácia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solidFill>
            <a:srgbClr val="1A1E26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TEÓRIA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test — transformácia fragmentu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64592" y="1508760"/>
            <a:ext cx="1335024" cy="749808"/>
          </a:xfrm>
          <a:prstGeom prst="rect">
            <a:avLst/>
          </a:prstGeom>
          <a:solidFill>
            <a:srgbClr val="1E2330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64592" y="1508760"/>
            <a:ext cx="1335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17904" y="1883664"/>
            <a:ext cx="164592" cy="0"/>
          </a:xfrm>
          <a:prstGeom prst="line">
            <a:avLst/>
          </a:prstGeom>
          <a:noFill/>
          <a:ln w="254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700784" y="1508760"/>
            <a:ext cx="1335024" cy="749808"/>
          </a:xfrm>
          <a:prstGeom prst="rect">
            <a:avLst/>
          </a:prstGeom>
          <a:solidFill>
            <a:srgbClr val="1E2330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1700784" y="1508760"/>
            <a:ext cx="1335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54096" y="1883664"/>
            <a:ext cx="164592" cy="0"/>
          </a:xfrm>
          <a:prstGeom prst="line">
            <a:avLst/>
          </a:prstGeom>
          <a:noFill/>
          <a:ln w="254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3236976" y="1508760"/>
            <a:ext cx="1335024" cy="749808"/>
          </a:xfrm>
          <a:prstGeom prst="rect">
            <a:avLst/>
          </a:prstGeom>
          <a:solidFill>
            <a:srgbClr val="1E2330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3236976" y="1508760"/>
            <a:ext cx="1335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90288" y="1883664"/>
            <a:ext cx="164592" cy="0"/>
          </a:xfrm>
          <a:prstGeom prst="line">
            <a:avLst/>
          </a:prstGeom>
          <a:noFill/>
          <a:ln w="254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4773168" y="1508760"/>
            <a:ext cx="1335024" cy="749808"/>
          </a:xfrm>
          <a:prstGeom prst="rect">
            <a:avLst/>
          </a:prstGeom>
          <a:solidFill>
            <a:srgbClr val="1E2330"/>
          </a:solidFill>
          <a:ln w="12700">
            <a:solidFill>
              <a:srgbClr val="4AC8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773168" y="1508760"/>
            <a:ext cx="1335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A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[-1,1]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883664"/>
            <a:ext cx="164592" cy="0"/>
          </a:xfrm>
          <a:prstGeom prst="line">
            <a:avLst/>
          </a:prstGeom>
          <a:noFill/>
          <a:ln w="254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6309360" y="1508760"/>
            <a:ext cx="1335024" cy="749808"/>
          </a:xfrm>
          <a:prstGeom prst="rect">
            <a:avLst/>
          </a:prstGeom>
          <a:solidFill>
            <a:srgbClr val="1E2330"/>
          </a:solidFill>
          <a:ln w="12700">
            <a:solidFill>
              <a:srgbClr val="4AE8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309360" y="1508760"/>
            <a:ext cx="1335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E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AE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[0,1]</a:t>
            </a:r>
            <a:endParaRPr lang="en-US" sz="11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2377440"/>
            <a:ext cx="4160520" cy="196596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480560" y="2377440"/>
            <a:ext cx="4498848" cy="896112"/>
          </a:xfrm>
          <a:prstGeom prst="rect">
            <a:avLst/>
          </a:prstGeom>
          <a:solidFill>
            <a:srgbClr val="1E2330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/>
          <p:nvPr/>
        </p:nvSpPr>
        <p:spPr>
          <a:xfrm>
            <a:off x="4608576" y="2468880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Perspektívne delenie → NDC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608576" y="2798064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projCoords = lsPos.xyz / lsPos.w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 ortho: w=1, delenie nič nerobí.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80560" y="3364992"/>
            <a:ext cx="4498848" cy="896112"/>
          </a:xfrm>
          <a:prstGeom prst="rect">
            <a:avLst/>
          </a:prstGeom>
          <a:solidFill>
            <a:srgbClr val="1E2330"/>
          </a:solidFill>
          <a:ln w="12700">
            <a:solidFill>
              <a:srgbClr val="4AE8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/>
          <p:nvPr/>
        </p:nvSpPr>
        <p:spPr>
          <a:xfrm>
            <a:off x="4608576" y="3456432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E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Normalizácia NDC → UV [0,1]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608576" y="3785616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 = proj * 0.5 + 0.5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proj.xy = UV pre depth mapu,  proj.z = hĺbka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7"/>
          <p:cNvSpPr/>
          <p:nvPr/>
        </p:nvSpPr>
        <p:spPr>
          <a:xfrm>
            <a:off x="274320" y="4800600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Výsledok: proj.xy hovorí kde vzorkovať depth mapu,  proj.z je hĺbka nášho fragmentu.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pass 2 — shadow test — porovnanie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solidFill>
            <a:srgbClr val="1A1E26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TEÓRIA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test — logika porovnania</a:t>
            </a:r>
            <a:endParaRPr lang="en-US" sz="3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17320"/>
            <a:ext cx="4663440" cy="2834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4592" y="1508760"/>
            <a:ext cx="4023360" cy="640080"/>
          </a:xfrm>
          <a:prstGeom prst="rect">
            <a:avLst/>
          </a:prstGeom>
          <a:solidFill>
            <a:srgbClr val="1E2330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292608" y="15727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Vzorkuj depth mapu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2608" y="18562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closestDepth = texture(shadowMap, projCoords.xy)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64592" y="2194560"/>
            <a:ext cx="4023360" cy="640080"/>
          </a:xfrm>
          <a:prstGeom prst="rect">
            <a:avLst/>
          </a:prstGeom>
          <a:solidFill>
            <a:srgbClr val="1E2330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292608" y="22585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Získaj hĺbku fragmentu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2608" y="25420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currentDepth = projCoords.z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64592" y="2880360"/>
            <a:ext cx="4023360" cy="640080"/>
          </a:xfrm>
          <a:prstGeom prst="rect">
            <a:avLst/>
          </a:prstGeom>
          <a:solidFill>
            <a:srgbClr val="1E2330"/>
          </a:solidFill>
          <a:ln w="12700">
            <a:solidFill>
              <a:srgbClr val="4AC8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292608" y="29443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Porovnaj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2608" y="32278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&gt; closest  →  TIEŇ (1.0)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64592" y="3566160"/>
            <a:ext cx="4023360" cy="640080"/>
          </a:xfrm>
          <a:prstGeom prst="rect">
            <a:avLst/>
          </a:prstGeom>
          <a:solidFill>
            <a:srgbClr val="1E2330"/>
          </a:solidFill>
          <a:ln w="12700">
            <a:solidFill>
              <a:srgbClr val="4AE8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292608" y="36301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E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Aplikuj na osvetlenie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92608" y="39136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lighting *= (1.0 - shadow)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/>
          <p:nvPr/>
        </p:nvSpPr>
        <p:spPr>
          <a:xfrm>
            <a:off x="274320" y="4800600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 je náš fragment ďalej od svetla ako closest depth → niekto je pred nami → sme v tieni.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artefakty — shadow acne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solidFill>
            <a:srgbClr val="1A1E26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TEÓRIA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Acne — príčina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164592" y="1508760"/>
            <a:ext cx="4023360" cy="1234440"/>
          </a:xfrm>
          <a:prstGeom prst="rect">
            <a:avLst/>
          </a:prstGeom>
          <a:solidFill>
            <a:srgbClr val="1E2330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292608" y="160020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Príčina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92608" y="1929384"/>
            <a:ext cx="37673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Každý texel depth mapy pokrýva plochu.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 sa porovnáva so sebou s numerickou chybou.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self-shadowing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64592" y="2834640"/>
            <a:ext cx="4023360" cy="1417320"/>
          </a:xfrm>
          <a:prstGeom prst="rect">
            <a:avLst/>
          </a:prstGeom>
          <a:solidFill>
            <a:srgbClr val="1E2330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292608" y="292608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Self-shadowing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92608" y="3255264"/>
            <a:ext cx="376732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currentDepth &gt; closestDepth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povrch háže tieň sám na seba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Horšie pri plytkom uhle svetla voči povrchu.</a:t>
            </a:r>
            <a:endParaRPr lang="en-US" sz="1200" dirty="0"/>
          </a:p>
        </p:txBody>
      </p:sp>
      <p:pic>
        <p:nvPicPr>
          <p:cNvPr id="4098" name="Picture 2" descr="3d - Shadow Quality (shadow acne) - Stack Overflow">
            <a:extLst>
              <a:ext uri="{FF2B5EF4-FFF2-40B4-BE49-F238E27FC236}">
                <a16:creationId xmlns:a16="http://schemas.microsoft.com/office/drawing/2014/main" id="{E7425585-A365-BFBF-9E88-0D96DA0C06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1" r="5590"/>
          <a:stretch>
            <a:fillRect/>
          </a:stretch>
        </p:blipFill>
        <p:spPr bwMode="auto">
          <a:xfrm>
            <a:off x="4504943" y="1408747"/>
            <a:ext cx="4346449" cy="3119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artefakty — bias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solidFill>
            <a:srgbClr val="1A1E26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TEÓRIA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— riešenie Shadow Acne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164592" y="43159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bias = 0.0  →  acne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663440" y="43159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E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bias = 0.005  →  správne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Adaptívny bias: max(0.05 * (1.0 - dot(normal, lightDir)), 0.005)  —  závisí od uhlu svetla.</a:t>
            </a:r>
            <a:endParaRPr lang="en-US" sz="1200" dirty="0"/>
          </a:p>
        </p:txBody>
      </p:sp>
      <p:pic>
        <p:nvPicPr>
          <p:cNvPr id="5122" name="Picture 2" descr="r/GraphicsProgramming - Shadow samples on sloped surfaces (learnopengl.com)">
            <a:extLst>
              <a:ext uri="{FF2B5EF4-FFF2-40B4-BE49-F238E27FC236}">
                <a16:creationId xmlns:a16="http://schemas.microsoft.com/office/drawing/2014/main" id="{99290ABE-FB85-9F41-F96E-309FD2F74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2147316"/>
            <a:ext cx="4324580" cy="139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r/GraphicsProgramming - Shadow bias (learnopengl.com)">
            <a:extLst>
              <a:ext uri="{FF2B5EF4-FFF2-40B4-BE49-F238E27FC236}">
                <a16:creationId xmlns:a16="http://schemas.microsoft.com/office/drawing/2014/main" id="{FB1B7CA6-2DAB-D9DE-940F-05B52AC2D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147316"/>
            <a:ext cx="4531804" cy="139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artefakty — peter panning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solidFill>
            <a:srgbClr val="1A1E26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TEÓRIA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Panning — príliš veľký Bias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164592" y="43159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E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bias = 0.005  →  správne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663440" y="43159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7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bias = 0.05  →  peter panning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Bias posúva povrch voči svetlu — príliš veľká hodnota odpojí tieň od objektu. Hľadaj 0.005–0.02.</a:t>
            </a:r>
            <a:endParaRPr lang="en-US" sz="1200" dirty="0"/>
          </a:p>
        </p:txBody>
      </p:sp>
      <p:pic>
        <p:nvPicPr>
          <p:cNvPr id="6146" name="Picture 2" descr="c++ - OpenGL shadow peter-panning - Stack Overflow">
            <a:extLst>
              <a:ext uri="{FF2B5EF4-FFF2-40B4-BE49-F238E27FC236}">
                <a16:creationId xmlns:a16="http://schemas.microsoft.com/office/drawing/2014/main" id="{3647CF13-17B9-523A-2C7D-8BF1660E69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1" t="2646" r="-1461" b="5938"/>
          <a:stretch>
            <a:fillRect/>
          </a:stretch>
        </p:blipFill>
        <p:spPr bwMode="auto">
          <a:xfrm>
            <a:off x="667512" y="1667827"/>
            <a:ext cx="3390900" cy="253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++ - OpenGL shadow peter-panning - Stack Overflow">
            <a:extLst>
              <a:ext uri="{FF2B5EF4-FFF2-40B4-BE49-F238E27FC236}">
                <a16:creationId xmlns:a16="http://schemas.microsoft.com/office/drawing/2014/main" id="{52B52664-76D0-837F-B64F-A2CCC3AA0F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5" r="9167" b="10384"/>
          <a:stretch>
            <a:fillRect/>
          </a:stretch>
        </p:blipFill>
        <p:spPr bwMode="auto">
          <a:xfrm>
            <a:off x="4663440" y="1667827"/>
            <a:ext cx="4168616" cy="253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PCF — percentage closer filtering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solidFill>
            <a:srgbClr val="1A1E26"/>
          </a:solidFill>
          <a:ln w="12700">
            <a:solidFill>
              <a:srgbClr val="A04A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64592" y="402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4A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PCF — princíp mäkkých tieňov</a:t>
            </a:r>
            <a:endParaRPr lang="en-US" sz="3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17320"/>
            <a:ext cx="4663440" cy="306324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3154680"/>
            <a:ext cx="4023360" cy="1325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4592" y="1508760"/>
            <a:ext cx="4023360" cy="713232"/>
          </a:xfrm>
          <a:prstGeom prst="rect">
            <a:avLst/>
          </a:prstGeom>
          <a:solidFill>
            <a:srgbClr val="1E2330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7"/>
          <p:cNvSpPr/>
          <p:nvPr/>
        </p:nvSpPr>
        <p:spPr>
          <a:xfrm>
            <a:off x="292608" y="160020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 shadows (bez PCF)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92608" y="1929384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Každý fragment = binárne: tieň alebo svetlo.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64592" y="2313432"/>
            <a:ext cx="4023360" cy="749808"/>
          </a:xfrm>
          <a:prstGeom prst="rect">
            <a:avLst/>
          </a:prstGeom>
          <a:solidFill>
            <a:srgbClr val="1E2330"/>
          </a:solidFill>
          <a:ln w="12700">
            <a:solidFill>
              <a:srgbClr val="A04A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0"/>
          <p:cNvSpPr/>
          <p:nvPr/>
        </p:nvSpPr>
        <p:spPr>
          <a:xfrm>
            <a:off x="292608" y="240487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4A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PCF — viacero vzoriek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2608" y="273405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vzoriek v okolí bodu → priemer → plynulý prechod.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3"/>
          <p:cNvSpPr/>
          <p:nvPr/>
        </p:nvSpPr>
        <p:spPr>
          <a:xfrm>
            <a:off x="274320" y="4800600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PCF trade-off: 9× viac vzoriek z depth mapy, ale tiene vyzerajú výrazne lepšie.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E26"/>
          </a:solidFill>
          <a:ln w="12700">
            <a:solidFill>
              <a:srgbClr val="1A1E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program workshopu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budeme robiť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64592" y="1508760"/>
            <a:ext cx="8814816" cy="331013"/>
          </a:xfrm>
          <a:prstGeom prst="rect">
            <a:avLst/>
          </a:prstGeom>
          <a:solidFill>
            <a:srgbClr val="1E2330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292608" y="1545336"/>
            <a:ext cx="256032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A — Shadow FBO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545336"/>
            <a:ext cx="5257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initShadowResources()  —  FBO, depth textúra, clamp-to-border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0" y="1545336"/>
            <a:ext cx="6583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" y="1876349"/>
            <a:ext cx="8814816" cy="331013"/>
          </a:xfrm>
          <a:prstGeom prst="rect">
            <a:avLst/>
          </a:prstGeom>
          <a:solidFill>
            <a:srgbClr val="1E2330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292608" y="1912925"/>
            <a:ext cx="256032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B — Light Space Matrix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1912925"/>
            <a:ext cx="5257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buildLightSpaceMatrix()  —  ortho projekcia × lookAt svetla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1912925"/>
            <a:ext cx="6583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 min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" y="2243938"/>
            <a:ext cx="8814816" cy="331013"/>
          </a:xfrm>
          <a:prstGeom prst="rect">
            <a:avLst/>
          </a:prstGeom>
          <a:solidFill>
            <a:srgbClr val="1E2330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292608" y="2280514"/>
            <a:ext cx="256032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C — Depth Pass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2280514"/>
            <a:ext cx="5257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renderDepthPass()  —  bind FBO, depth shader, renderScene()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2280514"/>
            <a:ext cx="6583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 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2611526"/>
            <a:ext cx="8814816" cy="331013"/>
          </a:xfrm>
          <a:prstGeom prst="rect">
            <a:avLst/>
          </a:prstGeom>
          <a:solidFill>
            <a:srgbClr val="1E2330"/>
          </a:solidFill>
          <a:ln w="12700">
            <a:solidFill>
              <a:srgbClr val="E8C4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292608" y="2648102"/>
            <a:ext cx="256032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D — Bind Shadow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2648102"/>
            <a:ext cx="5257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bindShadowDataForMainPass()  —  texture unit, uniform upload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2648102"/>
            <a:ext cx="6583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" y="2979115"/>
            <a:ext cx="8814816" cy="331013"/>
          </a:xfrm>
          <a:prstGeom prst="rect">
            <a:avLst/>
          </a:prstGeom>
          <a:solidFill>
            <a:srgbClr val="1E2330"/>
          </a:solidFill>
          <a:ln w="12700">
            <a:solidFill>
              <a:srgbClr val="A04A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292608" y="3015691"/>
            <a:ext cx="256032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4A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1 — PCF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3015691"/>
            <a:ext cx="5257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3×3 kernel, mäkké tiene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4592" y="3346704"/>
            <a:ext cx="8814816" cy="331013"/>
          </a:xfrm>
          <a:prstGeom prst="rect">
            <a:avLst/>
          </a:prstGeom>
          <a:solidFill>
            <a:srgbClr val="1E2330"/>
          </a:solidFill>
          <a:ln w="12700">
            <a:solidFill>
              <a:srgbClr val="A04A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292608" y="3383280"/>
            <a:ext cx="256032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4A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2 — Pohyblivé svetlo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3383280"/>
            <a:ext cx="5257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dynamická lightSpaceMatrix každý frame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4592" y="3714293"/>
            <a:ext cx="8814816" cy="331013"/>
          </a:xfrm>
          <a:prstGeom prst="rect">
            <a:avLst/>
          </a:prstGeom>
          <a:solidFill>
            <a:srgbClr val="1E2330"/>
          </a:solidFill>
          <a:ln w="12700">
            <a:solidFill>
              <a:srgbClr val="A04A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292608" y="3750869"/>
            <a:ext cx="256032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4A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3 — Bias experiment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6080" y="3750869"/>
            <a:ext cx="5257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vizuálne porovnanie acne vs peter panning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64592" y="4081882"/>
            <a:ext cx="8814816" cy="331013"/>
          </a:xfrm>
          <a:prstGeom prst="rect">
            <a:avLst/>
          </a:prstGeom>
          <a:solidFill>
            <a:srgbClr val="1E2330"/>
          </a:solidFill>
          <a:ln w="12700">
            <a:solidFill>
              <a:srgbClr val="A04A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292608" y="4118458"/>
            <a:ext cx="256032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4A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4 — Shadow map res.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26080" y="4118458"/>
            <a:ext cx="5257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1024→2048→512: vplyv rozlíšenia na kvalitu tieňa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64592" y="4449470"/>
            <a:ext cx="8814816" cy="331013"/>
          </a:xfrm>
          <a:prstGeom prst="rect">
            <a:avLst/>
          </a:prstGeom>
          <a:solidFill>
            <a:srgbClr val="1E2330"/>
          </a:solidFill>
          <a:ln w="12700">
            <a:solidFill>
              <a:srgbClr val="A04A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292608" y="4486046"/>
            <a:ext cx="256032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4A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5 — Farebný ambient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26080" y="4486046"/>
            <a:ext cx="5257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teplé/studené tiene — ambient farba namiesto čiernej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Hotovo.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48056" y="2474155"/>
            <a:ext cx="7441809" cy="2669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accent2"/>
                </a:solidFill>
              </a:rPr>
              <a:t>Zdroje</a:t>
            </a:r>
            <a:r>
              <a:rPr lang="en-US" sz="1600" b="1" dirty="0">
                <a:solidFill>
                  <a:schemeClr val="accent2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2"/>
                </a:solidFill>
                <a:hlinkClick r:id="rId3"/>
              </a:rPr>
              <a:t>https://www.youtube.com/watch?v=Jhopq2lkzMQ</a:t>
            </a:r>
            <a:endParaRPr lang="en-US" sz="1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2"/>
                </a:solidFill>
                <a:hlinkClick r:id="rId4"/>
              </a:rPr>
              <a:t>https://www.opengl-tutorial.org/intermediate-tutorials/tutorial-16-shadow-mapping/</a:t>
            </a:r>
            <a:endParaRPr lang="en-US" sz="1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2"/>
                </a:solidFill>
                <a:hlinkClick r:id="rId5"/>
              </a:rPr>
              <a:t>https://en.wikipedia.org/wiki/Shadow_mapping</a:t>
            </a:r>
            <a:endParaRPr lang="en-US" sz="1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2"/>
                </a:solidFill>
                <a:hlinkClick r:id="rId6"/>
              </a:rPr>
              <a:t>https://vis.uni-jena.de/Lecture/ComputerGraphics2/Lec9_ShadowMapping.pdf</a:t>
            </a:r>
            <a:endParaRPr lang="en-US" sz="1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2"/>
                </a:solidFill>
                <a:hlinkClick r:id="rId7"/>
              </a:rPr>
              <a:t>https://learnopengl.com/Advanced-Lighting/Shadows/Shadow-Mapping</a:t>
            </a:r>
            <a:endParaRPr lang="en-US" sz="1600" b="1" dirty="0">
              <a:solidFill>
                <a:schemeClr val="accent2"/>
              </a:solidFill>
            </a:endParaRPr>
          </a:p>
          <a:p>
            <a:endParaRPr lang="en-US" sz="1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669280" y="1463040"/>
            <a:ext cx="3291840" cy="1463040"/>
          </a:xfrm>
          <a:prstGeom prst="rect">
            <a:avLst/>
          </a:prstGeom>
          <a:solidFill>
            <a:srgbClr val="1E2330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669280" y="1463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Otázky?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321040" y="4114800"/>
            <a:ext cx="164592" cy="164592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8531352" y="4114800"/>
            <a:ext cx="164592" cy="164592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8741664" y="4114800"/>
            <a:ext cx="164592" cy="164592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8951976" y="4114800"/>
            <a:ext cx="164592" cy="164592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8321040" y="4325112"/>
            <a:ext cx="164592" cy="164592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8531352" y="4325112"/>
            <a:ext cx="164592" cy="164592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8741664" y="4325112"/>
            <a:ext cx="164592" cy="164592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8951976" y="4325112"/>
            <a:ext cx="164592" cy="164592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8321040" y="4535424"/>
            <a:ext cx="164592" cy="164592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8531352" y="4535424"/>
            <a:ext cx="164592" cy="164592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8741664" y="4535424"/>
            <a:ext cx="164592" cy="164592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8951976" y="4535424"/>
            <a:ext cx="164592" cy="164592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8321040" y="4745736"/>
            <a:ext cx="164592" cy="164592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8531352" y="4745736"/>
            <a:ext cx="164592" cy="164592"/>
          </a:xfrm>
          <a:prstGeom prst="rect">
            <a:avLst/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8741664" y="4745736"/>
            <a:ext cx="164592" cy="164592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8951976" y="4745736"/>
            <a:ext cx="164592" cy="164592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1245</Words>
  <Application>Microsoft Office PowerPoint</Application>
  <PresentationFormat>On-screen Show (16:9)</PresentationFormat>
  <Paragraphs>246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Shadow Mapping Workshop</dc:title>
  <dc:subject>PptxGenJS Presentation</dc:subject>
  <dc:creator>PptxGenJS</dc:creator>
  <cp:lastModifiedBy>Yevhen Lukianets</cp:lastModifiedBy>
  <cp:revision>4</cp:revision>
  <dcterms:created xsi:type="dcterms:W3CDTF">2026-03-22T13:55:09Z</dcterms:created>
  <dcterms:modified xsi:type="dcterms:W3CDTF">2026-03-22T15:05:08Z</dcterms:modified>
</cp:coreProperties>
</file>